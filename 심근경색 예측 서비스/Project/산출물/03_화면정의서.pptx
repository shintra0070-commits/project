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59" r:id="rId6"/>
    <p:sldId id="269" r:id="rId7"/>
    <p:sldId id="260" r:id="rId8"/>
    <p:sldId id="261" r:id="rId9"/>
    <p:sldId id="264" r:id="rId10"/>
    <p:sldId id="265" r:id="rId11"/>
    <p:sldId id="266" r:id="rId12"/>
    <p:sldId id="267" r:id="rId13"/>
    <p:sldId id="268" r:id="rId14"/>
  </p:sldIdLst>
  <p:sldSz cx="6858000" cy="9906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y5G5xksiDDRQ/wFPYJjQYjIaU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A28E38-3AA5-4339-A1BF-AE6ADF5D02B0}">
  <a:tblStyle styleId="{69A28E38-3AA5-4339-A1BF-AE6ADF5D02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44" autoAdjust="0"/>
  </p:normalViewPr>
  <p:slideViewPr>
    <p:cSldViewPr snapToGrid="0">
      <p:cViewPr varScale="1">
        <p:scale>
          <a:sx n="75" d="100"/>
          <a:sy n="75" d="100"/>
        </p:scale>
        <p:origin x="3174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Gulim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</a:t>
            </a:fld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2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3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600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4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31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5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36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6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66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7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150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8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3907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9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746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10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121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11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65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12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701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/>
        </p:nvSpPr>
        <p:spPr>
          <a:xfrm>
            <a:off x="1916112" y="85328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ulim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13</a:t>
            </a:fld>
            <a:endParaRPr/>
          </a:p>
        </p:txBody>
      </p:sp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69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 rot="5400000">
            <a:off x="1517650" y="3851275"/>
            <a:ext cx="84518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 rot="5400000">
            <a:off x="-1644650" y="2384425"/>
            <a:ext cx="845185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 rot="5400000">
            <a:off x="160338" y="2493963"/>
            <a:ext cx="6537325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21" name="Google Shape;21;p7"/>
          <p:cNvSpPr>
            <a:spLocks noGrp="1"/>
          </p:cNvSpPr>
          <p:nvPr>
            <p:ph type="pic" idx="2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2"/>
                </a:solidFill>
                <a:latin typeface="Gulimche"/>
                <a:ea typeface="Gulimche"/>
                <a:cs typeface="Gulimche"/>
                <a:sym typeface="Gulimche"/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/>
        </p:nvSpPr>
        <p:spPr>
          <a:xfrm>
            <a:off x="404812" y="342900"/>
            <a:ext cx="6175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che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화면정의서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oogle Shape;51;p1"/>
          <p:cNvGraphicFramePr/>
          <p:nvPr>
            <p:extLst>
              <p:ext uri="{D42A27DB-BD31-4B8C-83A1-F6EECF244321}">
                <p14:modId xmlns:p14="http://schemas.microsoft.com/office/powerpoint/2010/main" val="2166611735"/>
              </p:ext>
            </p:extLst>
          </p:nvPr>
        </p:nvGraphicFramePr>
        <p:xfrm>
          <a:off x="323075" y="144047"/>
          <a:ext cx="6153925" cy="9447053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76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55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sz="2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39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서비스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95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화면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Gulimche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4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홈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strike="noStrike" cap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</a:t>
                      </a:r>
                      <a:r>
                        <a:rPr lang="en-US" sz="1000" b="0" i="0" u="none" strike="noStrike" cap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 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MAIN_HOME_PAGE</a:t>
                      </a: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8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건강 분석 정보와 커뮤니티 인기 글을 제공하는 메인 화면입니다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9179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13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예측 그래프 조회</a:t>
                      </a:r>
                    </a:p>
                    <a:p>
                      <a:pPr marL="0" lvl="2" indent="0"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데이터를 그래프로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2"/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날짜별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위험도 변화를 확인할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2"/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정보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슬라이드 심혈관 질환 관련 건강 정보를 슬라이드 형태로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클릭 시 이미지가 변경된다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일정 시간이 지나면 정보와 이미지가 변경된다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인기 글 조회 좋아요 수 기준 인기 게시글을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클릭 시 상세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시작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시작하기 버튼 클릭 시 건강 분석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더보기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인기 글 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더보기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클릭 시 전체 게시글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로그인을 해야 메뉴에 들어갈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하면 본인의 결과가 나온다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36CB741-81F5-4566-8833-467932AE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7" y="1790159"/>
            <a:ext cx="5765800" cy="4141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451826466"/>
              </p:ext>
            </p:extLst>
          </p:nvPr>
        </p:nvGraphicFramePr>
        <p:xfrm>
          <a:off x="457200" y="344487"/>
          <a:ext cx="6059450" cy="895822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인증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구글 로그인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LOGIN_PAGE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구글 계정을 통해 로그인 및 회원가입을 진행하는 화면입니다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Google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계정 로그인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사용자는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Google OAuth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인증을 통해 로그인할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최초 로그인 시 자동 회원가입 처리된다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메인 메뉴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상단 메뉴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(Home,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클릭 시 각 페이지로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상태 처리로그인 성공 시 사용자 정보가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후 메인 페이지로 자동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비로그인 접근 제한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 등은 로그인 사용자만 접근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BEEDD0CE-AEB3-49B0-A1CC-83C605A17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236004"/>
            <a:ext cx="5778500" cy="43171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102553300"/>
              </p:ext>
            </p:extLst>
          </p:nvPr>
        </p:nvGraphicFramePr>
        <p:xfrm>
          <a:off x="266701" y="152400"/>
          <a:ext cx="6407149" cy="9454737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2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8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577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96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분석결과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심근경색예측관리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64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분석 결과 화면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9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건강 데이터를 기반으로 심근경색 발생 위험도를 분석하여 제공하는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1491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634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발생 확률 표시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 모델 결과를 퍼센트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(%)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형태로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위험도 수준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낮음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보통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높음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을 함께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추이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그래프 날짜 별 분석 결과를 선 그래프로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그래프 점 클릭 시 해당 날짜 상세 데이터 조회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기준표 제공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혈당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콜레스테롤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BMI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 정상 범위를 표로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Raw Data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검사 데이터를 표 형태로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수치 및 측정값 확인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결과 해석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AI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결과를 기반으로 건강 상태 해석 문구를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기능버튼 클릭 시 새로운 건강 분석을 수행한다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4D339860-85CB-481D-BC2C-B8C2D7C1B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889538"/>
            <a:ext cx="6083299" cy="4263612"/>
          </a:xfrm>
          <a:prstGeom prst="rect">
            <a:avLst/>
          </a:prstGeom>
        </p:spPr>
      </p:pic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330D7B2C-CC59-40FE-9F19-B2F85D06D483}"/>
              </a:ext>
            </a:extLst>
          </p:cNvPr>
          <p:cNvSpPr/>
          <p:nvPr/>
        </p:nvSpPr>
        <p:spPr>
          <a:xfrm>
            <a:off x="4102103" y="2137188"/>
            <a:ext cx="1568447" cy="577850"/>
          </a:xfrm>
          <a:prstGeom prst="wedgeEllipseCallout">
            <a:avLst>
              <a:gd name="adj1" fmla="val 24860"/>
              <a:gd name="adj2" fmla="val 1236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누르면 해당하는 데이터 목록 나타남 </a:t>
            </a:r>
          </a:p>
        </p:txBody>
      </p:sp>
      <p:sp>
        <p:nvSpPr>
          <p:cNvPr id="11" name="말풍선: 타원형 10">
            <a:extLst>
              <a:ext uri="{FF2B5EF4-FFF2-40B4-BE49-F238E27FC236}">
                <a16:creationId xmlns:a16="http://schemas.microsoft.com/office/drawing/2014/main" id="{08953813-5BEF-42B6-88DD-80357F5D2146}"/>
              </a:ext>
            </a:extLst>
          </p:cNvPr>
          <p:cNvSpPr/>
          <p:nvPr/>
        </p:nvSpPr>
        <p:spPr>
          <a:xfrm>
            <a:off x="3136902" y="5130800"/>
            <a:ext cx="1568447" cy="577850"/>
          </a:xfrm>
          <a:prstGeom prst="wedgeEllipseCallout">
            <a:avLst>
              <a:gd name="adj1" fmla="val -89996"/>
              <a:gd name="adj2" fmla="val 9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점 클릭하면 </a:t>
            </a:r>
            <a:r>
              <a:rPr lang="ko-KR" altLang="en-US" sz="1000">
                <a:solidFill>
                  <a:schemeClr val="tx1"/>
                </a:solidFill>
              </a:rPr>
              <a:t>그래프 해석 결과가 나온다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9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936692392"/>
              </p:ext>
            </p:extLst>
          </p:nvPr>
        </p:nvGraphicFramePr>
        <p:xfrm>
          <a:off x="209550" y="63500"/>
          <a:ext cx="6438900" cy="9685779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25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99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581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화면정의서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건강분석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작성일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2026.05.22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42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업무대기능명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심근경색예측관리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작성자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곽민재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심근경색 발생 확률 구하기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화면ID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HEART_PREDICT_INPUT_PAGE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화면설명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사용자의 건강 정보와 생활 습관 데이터를 입력 받아 심근경색 발생 확률을 </a:t>
                      </a:r>
                      <a:endParaRPr lang="en-US" altLang="ko-KR" sz="1000" dirty="0"/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예측하는 화면이다</a:t>
                      </a:r>
                      <a:endParaRPr lang="ko-KR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854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622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Gulimche"/>
                        <a:ea typeface="Gulimche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/>
                        <a:t>질환 여부 입력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고혈압 의사진단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 err="1"/>
                        <a:t>이상지질혈증</a:t>
                      </a:r>
                      <a:r>
                        <a:rPr lang="ko-KR" altLang="en-US" sz="1000" dirty="0"/>
                        <a:t> 의사진단 여부 선택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당뇨병 의사진단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뇌졸중 의사진단 여부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/>
                        <a:t>건강 수치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공복 혈당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당화혈색소 입력 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총콜레스테롤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체질량지수</a:t>
                      </a:r>
                      <a:r>
                        <a:rPr lang="en-US" altLang="ko-KR" sz="1000" dirty="0"/>
                        <a:t>(BMI) </a:t>
                      </a:r>
                      <a:r>
                        <a:rPr lang="ko-KR" altLang="en-US" sz="1000" dirty="0"/>
                        <a:t>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허리둘레 입력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/>
                        <a:t>생활 습관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흡연 여부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음주 빈도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음주량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앉아서 보내는 시간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유산소 신체 활동 여부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사용자 정보 입력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성별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나이 입력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최종 학력 선택</a:t>
                      </a:r>
                      <a:r>
                        <a:rPr lang="en-US" altLang="ko-KR" sz="1000" dirty="0"/>
                        <a:t>,</a:t>
                      </a:r>
                      <a:r>
                        <a:rPr lang="ko-KR" altLang="en-US" sz="1000" dirty="0"/>
                        <a:t> 소득 분위 수 선택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/>
                        <a:t>고혈압 유형 선택</a:t>
                      </a:r>
                      <a:r>
                        <a:rPr lang="en-US" altLang="ko-KR" sz="1000" dirty="0"/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 정상 주의혈압 </a:t>
                      </a:r>
                      <a:r>
                        <a:rPr lang="en-US" altLang="ko-KR" sz="1000" dirty="0"/>
                        <a:t>13 </a:t>
                      </a:r>
                      <a:r>
                        <a:rPr lang="ko-KR" altLang="en-US" sz="1000" dirty="0"/>
                        <a:t>고혈압전단계 </a:t>
                      </a:r>
                      <a:r>
                        <a:rPr lang="en-US" altLang="ko-KR" sz="1000" dirty="0"/>
                        <a:t>27. 28. 29. 30. 31. 32. 33. 34. 35. 36. </a:t>
                      </a:r>
                      <a:r>
                        <a:rPr lang="ko-KR" altLang="en-US" sz="1000" dirty="0"/>
                        <a:t>고혈압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예측하기 기능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입력 데이터 기반 심근경색 발생 확률 예측 수행한다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 err="1"/>
                        <a:t>입력값</a:t>
                      </a:r>
                      <a:r>
                        <a:rPr lang="ko-KR" altLang="en-US" sz="1000" dirty="0"/>
                        <a:t> 검증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숫자 입력 항목 유효성 검사 수행한다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필수 </a:t>
                      </a:r>
                      <a:r>
                        <a:rPr lang="ko-KR" altLang="en-US" sz="1000" dirty="0" err="1"/>
                        <a:t>입력값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미입력</a:t>
                      </a:r>
                      <a:r>
                        <a:rPr lang="ko-KR" altLang="en-US" sz="1000" dirty="0"/>
                        <a:t> 시 예측 제한한다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/>
                        <a:t>분석 결과 저장 </a:t>
                      </a:r>
                      <a:endParaRPr lang="en-US" altLang="ko-KR" sz="10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예측 결과 및 입력 데이터를 </a:t>
                      </a:r>
                      <a:r>
                        <a:rPr lang="en-US" altLang="ko-KR" sz="1000" dirty="0"/>
                        <a:t>DB</a:t>
                      </a:r>
                      <a:r>
                        <a:rPr lang="ko-KR" altLang="en-US" sz="1000" dirty="0"/>
                        <a:t>에 저장한다</a:t>
                      </a:r>
                      <a:r>
                        <a:rPr lang="en-US" altLang="ko-KR" sz="1000" dirty="0"/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 분석 기록에 자동 등록된다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63569621-9F3C-4113-930D-7A5F03ADC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" y="2070100"/>
            <a:ext cx="6070600" cy="23673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2ABD9E3E-0337-4CFE-AA32-3C62EA400801}"/>
              </a:ext>
            </a:extLst>
          </p:cNvPr>
          <p:cNvSpPr/>
          <p:nvPr/>
        </p:nvSpPr>
        <p:spPr>
          <a:xfrm>
            <a:off x="1384300" y="3886200"/>
            <a:ext cx="1463675" cy="551248"/>
          </a:xfrm>
          <a:prstGeom prst="wedgeEllipseCallout">
            <a:avLst>
              <a:gd name="adj1" fmla="val 75000"/>
              <a:gd name="adj2" fmla="val -411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예측결과 보기</a:t>
            </a:r>
          </a:p>
        </p:txBody>
      </p:sp>
    </p:spTree>
    <p:extLst>
      <p:ext uri="{BB962C8B-B14F-4D97-AF65-F5344CB8AC3E}">
        <p14:creationId xmlns:p14="http://schemas.microsoft.com/office/powerpoint/2010/main" val="393579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936846885"/>
              </p:ext>
            </p:extLst>
          </p:nvPr>
        </p:nvGraphicFramePr>
        <p:xfrm>
          <a:off x="488175" y="405276"/>
          <a:ext cx="6059450" cy="9095448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86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화면정의서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커뮤니티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작성일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2026.05.22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업무대기능명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게시판관리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작성자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곽민재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6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커뮤니티 게시글 목록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화면ID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/>
                        <a:t>COMMUNITY_LIST_PAGE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3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화면설명</a:t>
                      </a:r>
                      <a:endParaRPr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/>
                        <a:t>사용자가 게시글을 조회하고 검색 및 정렬할 수 있는 커뮤니티 메인 화면이다</a:t>
                      </a:r>
                      <a:r>
                        <a:rPr lang="en-US" altLang="ko-KR" sz="1000" dirty="0"/>
                        <a:t>.</a:t>
                      </a:r>
                      <a:endParaRPr sz="1000" dirty="0"/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735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Gulim"/>
                        <a:ea typeface="Gulim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595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Gulimche"/>
                        <a:ea typeface="Gulimche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Gulimche"/>
                          <a:ea typeface="Gulimche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800" dirty="0"/>
                        <a:t>1. </a:t>
                      </a:r>
                      <a:r>
                        <a:rPr lang="ko-KR" altLang="en-US" sz="800" dirty="0"/>
                        <a:t>카테고리별 조회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건강 정보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식단 이야기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운동 공유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자유 게시판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r>
                        <a:rPr lang="en-US" altLang="ko-KR" sz="800" dirty="0"/>
                        <a:t>2. </a:t>
                      </a:r>
                      <a:r>
                        <a:rPr lang="ko-KR" altLang="en-US" sz="800" dirty="0"/>
                        <a:t>게시글 검색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제목 및 작성자 기준 검색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3. </a:t>
                      </a:r>
                      <a:r>
                        <a:rPr lang="ko-KR" altLang="en-US" sz="800" dirty="0"/>
                        <a:t>정렬 기능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최신 순 정렬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좋아요 순 정렬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조회수순 정렬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r>
                        <a:rPr lang="en-US" altLang="ko-KR" sz="800" dirty="0"/>
                        <a:t>4. </a:t>
                      </a:r>
                      <a:r>
                        <a:rPr lang="ko-KR" altLang="en-US" sz="800" dirty="0"/>
                        <a:t>게시글 상세조회</a:t>
                      </a:r>
                      <a:endParaRPr lang="en-US" altLang="ko-KR" sz="800" dirty="0"/>
                    </a:p>
                    <a:p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게시글 클릭 시 상세 페이지로 이동한다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게시글 작성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로그인 사용자만 작성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글 작성 버튼 클릭 시 게시글 작성 페이지로 이동한다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5. </a:t>
                      </a:r>
                      <a:r>
                        <a:rPr lang="ko-KR" altLang="en-US" sz="800" dirty="0" err="1"/>
                        <a:t>페이징</a:t>
                      </a:r>
                      <a:r>
                        <a:rPr lang="ko-KR" altLang="en-US" sz="800" dirty="0"/>
                        <a:t> 처리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페이지 번호 클릭 시 게시글 목록 이동 가능하다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이전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다음 버튼 지원한다</a:t>
                      </a:r>
                      <a:r>
                        <a:rPr lang="en-US" altLang="ko-KR" sz="800" dirty="0"/>
                        <a:t>.</a:t>
                      </a:r>
                    </a:p>
                    <a:p>
                      <a:endParaRPr lang="en-US" altLang="ko-KR" sz="800" dirty="0"/>
                    </a:p>
                    <a:p>
                      <a:r>
                        <a:rPr lang="en-US" altLang="ko-KR" sz="800" dirty="0"/>
                        <a:t>6. </a:t>
                      </a:r>
                      <a:r>
                        <a:rPr lang="ko-KR" altLang="en-US" sz="800" dirty="0"/>
                        <a:t>게시글 정보 출력</a:t>
                      </a:r>
                      <a:endParaRPr lang="en-US" altLang="ko-KR" sz="800" dirty="0"/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제목</a:t>
                      </a:r>
                    </a:p>
                    <a:p>
                      <a:r>
                        <a:rPr lang="en-US" altLang="ko-KR" sz="800" dirty="0"/>
                        <a:t> -  </a:t>
                      </a:r>
                      <a:r>
                        <a:rPr lang="ko-KR" altLang="en-US" sz="800" dirty="0"/>
                        <a:t>작성자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작성일</a:t>
                      </a:r>
                    </a:p>
                    <a:p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-  </a:t>
                      </a:r>
                      <a:r>
                        <a:rPr lang="ko-KR" altLang="en-US" sz="800" dirty="0"/>
                        <a:t>조회수</a:t>
                      </a:r>
                    </a:p>
                    <a:p>
                      <a:r>
                        <a:rPr lang="en-US" altLang="ko-KR" sz="800" dirty="0"/>
                        <a:t> -  </a:t>
                      </a:r>
                      <a:r>
                        <a:rPr lang="ko-KR" altLang="en-US" sz="800" dirty="0"/>
                        <a:t>좋아요 수</a:t>
                      </a:r>
                      <a:endParaRPr lang="en-US" altLang="ko-KR" sz="800" dirty="0"/>
                    </a:p>
                    <a:p>
                      <a:endParaRPr lang="ko-KR" altLang="en-US" sz="800" dirty="0"/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글 작성하기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작성하기 화면으로 이동한다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Picture 5">
            <a:extLst>
              <a:ext uri="{FF2B5EF4-FFF2-40B4-BE49-F238E27FC236}">
                <a16:creationId xmlns:a16="http://schemas.microsoft.com/office/drawing/2014/main" id="{66D7B027-7B52-4B1A-B817-D03718EC2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3925" y="1991868"/>
            <a:ext cx="5695900" cy="29611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0B1DFA96-3D11-4CE0-AC95-7E1BCEF7DA40}"/>
              </a:ext>
            </a:extLst>
          </p:cNvPr>
          <p:cNvSpPr/>
          <p:nvPr/>
        </p:nvSpPr>
        <p:spPr>
          <a:xfrm>
            <a:off x="2590800" y="2497628"/>
            <a:ext cx="1866900" cy="518564"/>
          </a:xfrm>
          <a:prstGeom prst="wedgeEllipseCallout">
            <a:avLst>
              <a:gd name="adj1" fmla="val 74746"/>
              <a:gd name="adj2" fmla="val -575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사용자가 원하는 대로 정렬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488965AB-A330-4404-9D02-8753E3A7CBD9}"/>
              </a:ext>
            </a:extLst>
          </p:cNvPr>
          <p:cNvSpPr/>
          <p:nvPr/>
        </p:nvSpPr>
        <p:spPr>
          <a:xfrm>
            <a:off x="5737613" y="1811828"/>
            <a:ext cx="1793487" cy="518564"/>
          </a:xfrm>
          <a:prstGeom prst="wedgeEllipseCallout">
            <a:avLst>
              <a:gd name="adj1" fmla="val -58098"/>
              <a:gd name="adj2" fmla="val 567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글 작성하기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398914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471255169"/>
              </p:ext>
            </p:extLst>
          </p:nvPr>
        </p:nvGraphicFramePr>
        <p:xfrm>
          <a:off x="424675" y="405277"/>
          <a:ext cx="6242825" cy="9165503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97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302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게시글상세관리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51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 게시글 목록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COMMUNITY_VIEW_PAGE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71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커뮤니티 게시글의 상세 내용을 조회하고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댓글 및 좋아요 기능을 사용할 수 있는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8569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859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상세조회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제목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내용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작성일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조회수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카테고리 조회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pPr lvl="1"/>
                      <a:endParaRPr lang="ko-KR" altLang="en-US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좋아요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좋아요 버튼 클릭 시 좋아요 증가한다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이미 </a:t>
                      </a:r>
                      <a:r>
                        <a:rPr lang="ko-KR" altLang="en-US" sz="800" dirty="0" err="1">
                          <a:latin typeface="+mj-ea"/>
                          <a:ea typeface="+mj-ea"/>
                        </a:rPr>
                        <a:t>좋아요를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누른 경우 취소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수정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본인만 수정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수정 버튼 클릭 시 게시글 수정 화면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삭제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본인만 삭제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후 게시글 목록 화면으로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등록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입력 후 등록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로그인 사용자만 댓글 작성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목록 조회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댓글 목록 출력한다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작성자 및 작성일 조회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7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수정 및 삭제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댓글 작성자 본인만 수정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가능하다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lvl="1"/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800" dirty="0">
                          <a:latin typeface="+mj-ea"/>
                          <a:ea typeface="+mj-ea"/>
                        </a:rPr>
                        <a:t>8.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목록 이동 기능</a:t>
                      </a:r>
                    </a:p>
                    <a:p>
                      <a:pPr lvl="1"/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목록으로 버튼 클릭 시 게시글 목록 화면 이동한다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조회수 증가 처리</a:t>
                      </a:r>
                      <a:endParaRPr lang="en-US" altLang="ko-KR" sz="800" dirty="0">
                        <a:latin typeface="+mj-ea"/>
                        <a:ea typeface="+mj-ea"/>
                      </a:endParaRPr>
                    </a:p>
                    <a:p>
                      <a:endParaRPr lang="ko-KR" altLang="en-US" sz="800" dirty="0">
                        <a:latin typeface="+mj-ea"/>
                        <a:ea typeface="+mj-ea"/>
                      </a:endParaRPr>
                    </a:p>
                    <a:p>
                      <a:pPr lvl="1"/>
                      <a:r>
                        <a:rPr lang="en-US" altLang="ko-KR" sz="800" dirty="0">
                          <a:latin typeface="+mj-ea"/>
                          <a:ea typeface="+mj-ea"/>
                        </a:rPr>
                        <a:t>9.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게시글 상세조회 시 조회수 자동 증가한다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사용자 권한 처리</a:t>
                      </a:r>
                    </a:p>
                    <a:p>
                      <a:r>
                        <a:rPr lang="ko-KR" altLang="en-US" sz="8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작성자 여부에 따라 수정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800" dirty="0">
                          <a:latin typeface="+mj-ea"/>
                          <a:ea typeface="+mj-ea"/>
                        </a:rPr>
                        <a:t>삭제 버튼 출력 여부 결정한다</a:t>
                      </a:r>
                      <a:r>
                        <a:rPr lang="en-US" altLang="ko-KR" sz="8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ko-KR" altLang="en-US" sz="8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E4FB3974-2AF7-43F2-A012-94E5CB655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02"/>
          <a:stretch/>
        </p:blipFill>
        <p:spPr>
          <a:xfrm>
            <a:off x="676505" y="2184169"/>
            <a:ext cx="5789963" cy="2361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E3F9D4B1-8C50-430C-BD28-D8F5CEFFDE86}"/>
              </a:ext>
            </a:extLst>
          </p:cNvPr>
          <p:cNvSpPr/>
          <p:nvPr/>
        </p:nvSpPr>
        <p:spPr>
          <a:xfrm>
            <a:off x="1219200" y="3378199"/>
            <a:ext cx="1110166" cy="507617"/>
          </a:xfrm>
          <a:prstGeom prst="wedgeEllipseCallout">
            <a:avLst>
              <a:gd name="adj1" fmla="val 77528"/>
              <a:gd name="adj2" fmla="val 503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댓글 등록하기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CAC41F81-C269-4D9E-9779-D432DEECF07E}"/>
              </a:ext>
            </a:extLst>
          </p:cNvPr>
          <p:cNvSpPr/>
          <p:nvPr/>
        </p:nvSpPr>
        <p:spPr>
          <a:xfrm>
            <a:off x="4368800" y="2539999"/>
            <a:ext cx="1397000" cy="507617"/>
          </a:xfrm>
          <a:prstGeom prst="wedgeEllipseCallout">
            <a:avLst>
              <a:gd name="adj1" fmla="val -39157"/>
              <a:gd name="adj2" fmla="val 878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 및 삭제하기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D49F6BFD-7300-4C97-ABBC-D9CCA99E1510}"/>
              </a:ext>
            </a:extLst>
          </p:cNvPr>
          <p:cNvSpPr/>
          <p:nvPr/>
        </p:nvSpPr>
        <p:spPr>
          <a:xfrm>
            <a:off x="1143001" y="2717950"/>
            <a:ext cx="1346200" cy="393315"/>
          </a:xfrm>
          <a:prstGeom prst="wedgeEllipseCallout">
            <a:avLst>
              <a:gd name="adj1" fmla="val 59128"/>
              <a:gd name="adj2" fmla="val 846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좋아요 클릭하기</a:t>
            </a:r>
          </a:p>
        </p:txBody>
      </p:sp>
    </p:spTree>
    <p:extLst>
      <p:ext uri="{BB962C8B-B14F-4D97-AF65-F5344CB8AC3E}">
        <p14:creationId xmlns:p14="http://schemas.microsoft.com/office/powerpoint/2010/main" val="10050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182798189"/>
              </p:ext>
            </p:extLst>
          </p:nvPr>
        </p:nvGraphicFramePr>
        <p:xfrm>
          <a:off x="170674" y="253999"/>
          <a:ext cx="6516651" cy="9405087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3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6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2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757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99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36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등록관리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07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dirty="0">
                          <a:latin typeface="+mj-ea"/>
                          <a:ea typeface="+mj-ea"/>
                        </a:rPr>
                        <a:t>COMMUNITY_WIRTE_PAGE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05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커뮤니티 게시글을 작성하는 화면이다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3682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90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카데고리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선택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 정보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식단 이야기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운동 공유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자유 게시판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228600" indent="-228600">
                        <a:buAutoNum type="arabicPeriod" startAt="2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제목 입력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게시글 제목 작성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내용 입력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상세 내용 작성 가능하다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등록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등록하기 버튼 클릭 시 게시글이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에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등록 완료 후 커뮤니티 목록 화면으로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작성 취소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취소 버튼 클릭 시 이전 화면으로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작성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정보가 자동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 및 내용 미 입력 시 등록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A98EF82B-15ED-4FF6-81CC-A4592FE2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4" y="2080647"/>
            <a:ext cx="6059450" cy="32533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415C476-8FEA-4F47-B12D-7E8DC3DC2641}"/>
              </a:ext>
            </a:extLst>
          </p:cNvPr>
          <p:cNvSpPr/>
          <p:nvPr/>
        </p:nvSpPr>
        <p:spPr>
          <a:xfrm>
            <a:off x="4508500" y="3924300"/>
            <a:ext cx="1485900" cy="520700"/>
          </a:xfrm>
          <a:prstGeom prst="wedgeEllipseCallout">
            <a:avLst>
              <a:gd name="adj1" fmla="val -58652"/>
              <a:gd name="adj2" fmla="val 649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게시글 전체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147474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250579012"/>
              </p:ext>
            </p:extLst>
          </p:nvPr>
        </p:nvGraphicFramePr>
        <p:xfrm>
          <a:off x="399275" y="192711"/>
          <a:ext cx="6059450" cy="951937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마이페이지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dirty="0">
                          <a:latin typeface="+mj-ea"/>
                          <a:ea typeface="+mj-ea"/>
                        </a:rPr>
                        <a:t>MY_PAGE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개인 정보와 활동 기록을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이름 및 이메일 조회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기록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심근경색 분석 결과를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버튼 클릭 시 분석 상세 화면 이동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정보를 수정할 수 있다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탈퇴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탈퇴 기능 제공한다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메뉴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조회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조회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조회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89484CE6-CE1B-4D3D-AED1-DD8A9B8C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031072"/>
            <a:ext cx="5562600" cy="458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31EE98F2-3D80-4FCB-BC03-52DFB64F4A3B}"/>
              </a:ext>
            </a:extLst>
          </p:cNvPr>
          <p:cNvSpPr/>
          <p:nvPr/>
        </p:nvSpPr>
        <p:spPr>
          <a:xfrm>
            <a:off x="5787320" y="2031072"/>
            <a:ext cx="1839660" cy="635928"/>
          </a:xfrm>
          <a:prstGeom prst="wedgeEllipseCallout">
            <a:avLst>
              <a:gd name="adj1" fmla="val -71275"/>
              <a:gd name="adj2" fmla="val 601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분석페이지로 </a:t>
            </a:r>
            <a:r>
              <a:rPr lang="ko-KR" altLang="en-US" sz="1000" dirty="0">
                <a:solidFill>
                  <a:schemeClr val="tx1"/>
                </a:solidFill>
              </a:rPr>
              <a:t>이동</a:t>
            </a: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CB8A292C-2E82-4833-A983-1B4D6B3F83B1}"/>
              </a:ext>
            </a:extLst>
          </p:cNvPr>
          <p:cNvSpPr/>
          <p:nvPr/>
        </p:nvSpPr>
        <p:spPr>
          <a:xfrm>
            <a:off x="3843978" y="3835400"/>
            <a:ext cx="1718913" cy="635928"/>
          </a:xfrm>
          <a:prstGeom prst="wedgeEllipseCallout">
            <a:avLst>
              <a:gd name="adj1" fmla="val 32366"/>
              <a:gd name="adj2" fmla="val -896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당일에 한 분석 결과로 이동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73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496608976"/>
              </p:ext>
            </p:extLst>
          </p:nvPr>
        </p:nvGraphicFramePr>
        <p:xfrm>
          <a:off x="495300" y="344487"/>
          <a:ext cx="6059450" cy="942345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20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9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커뮤니티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583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6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조회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MY_COMMUNITY_PAGE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03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사용자가 작성한 게시글을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9136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40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게시글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사용자가 작성한 게시글만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최신순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정렬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작성 게시글을 우선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정보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출력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카테고리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작성일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조회수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좋아요 수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endParaRPr lang="ko-KR" altLang="en-US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상세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게시글 클릭 시 상세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페이징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및 페이지 번호 지원한다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7A0CEEF-007A-4FAE-BBE3-3D844328B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2203224"/>
            <a:ext cx="5651500" cy="45404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DC40B5D-4720-498E-B38F-49A899912DEB}"/>
              </a:ext>
            </a:extLst>
          </p:cNvPr>
          <p:cNvSpPr/>
          <p:nvPr/>
        </p:nvSpPr>
        <p:spPr>
          <a:xfrm>
            <a:off x="3429000" y="2914650"/>
            <a:ext cx="1598650" cy="393700"/>
          </a:xfrm>
          <a:prstGeom prst="wedgeEllipseCallout">
            <a:avLst>
              <a:gd name="adj1" fmla="val 62004"/>
              <a:gd name="adj2" fmla="val -342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작성하기 페이지로 이동</a:t>
            </a:r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EF45B6CA-D94C-4C9D-8FDE-EF4682846EC5}"/>
              </a:ext>
            </a:extLst>
          </p:cNvPr>
          <p:cNvSpPr/>
          <p:nvPr/>
        </p:nvSpPr>
        <p:spPr>
          <a:xfrm>
            <a:off x="5416088" y="3175000"/>
            <a:ext cx="1854200" cy="393700"/>
          </a:xfrm>
          <a:prstGeom prst="wedgeEllipseCallout">
            <a:avLst>
              <a:gd name="adj1" fmla="val -38887"/>
              <a:gd name="adj2" fmla="val 97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게시글 상세페이지로 이동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46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2430594215"/>
              </p:ext>
            </p:extLst>
          </p:nvPr>
        </p:nvGraphicFramePr>
        <p:xfrm>
          <a:off x="399275" y="268911"/>
          <a:ext cx="6059450" cy="936697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고객지원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문의조회관리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조회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MY_INQUIRY_PAGE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등록한 문의사항 목록을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내 문의사항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사용자의 문의사항만 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최신순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정렬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등록 문의사항이 상단에 표시된다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정보 출력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문의내용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작성일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작성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작성하기 버튼 클릭 시 고객센터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 err="1">
                          <a:latin typeface="+mj-ea"/>
                          <a:ea typeface="+mj-ea"/>
                        </a:rPr>
                        <a:t>페이징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처리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페이지 번호 이동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다음 버튼 지원한다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C96154F-BAFD-447D-9177-32297FAAF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38" b="3545"/>
          <a:stretch/>
        </p:blipFill>
        <p:spPr>
          <a:xfrm>
            <a:off x="561587" y="2145277"/>
            <a:ext cx="5760225" cy="4560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말풍선: 타원형 6">
            <a:extLst>
              <a:ext uri="{FF2B5EF4-FFF2-40B4-BE49-F238E27FC236}">
                <a16:creationId xmlns:a16="http://schemas.microsoft.com/office/drawing/2014/main" id="{BB916133-AEA0-442F-B859-49E3D8575942}"/>
              </a:ext>
            </a:extLst>
          </p:cNvPr>
          <p:cNvSpPr/>
          <p:nvPr/>
        </p:nvSpPr>
        <p:spPr>
          <a:xfrm>
            <a:off x="3530601" y="2781300"/>
            <a:ext cx="1587500" cy="495300"/>
          </a:xfrm>
          <a:prstGeom prst="wedgeEllipseCallout">
            <a:avLst>
              <a:gd name="adj1" fmla="val 66037"/>
              <a:gd name="adj2" fmla="val -60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작성하기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401504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290662652"/>
              </p:ext>
            </p:extLst>
          </p:nvPr>
        </p:nvGraphicFramePr>
        <p:xfrm>
          <a:off x="520700" y="166837"/>
          <a:ext cx="6059450" cy="9571119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0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91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372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회원정보관리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4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수정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MEMBER_UPDATE_PAGE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82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자신의 회원 정보를 수정하는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537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99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정보를 자동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이메일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(ID)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은 수정 불가능하다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이름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 이름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.(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숫자만 입력 가능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수정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수정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회원 정보 저장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수정 완료 버튼 클릭 시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에 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수정 후 사용자 정보 갱신된다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이름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전화번호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닉네임 미 입력 시 수정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9108A184-711A-487D-842B-1BF38ECC3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5" y="2159490"/>
            <a:ext cx="5842000" cy="4215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C05FCEB9-7E39-4EB8-8712-5DE41EA0A85E}"/>
              </a:ext>
            </a:extLst>
          </p:cNvPr>
          <p:cNvSpPr/>
          <p:nvPr/>
        </p:nvSpPr>
        <p:spPr>
          <a:xfrm>
            <a:off x="3796063" y="4165845"/>
            <a:ext cx="1892300" cy="736600"/>
          </a:xfrm>
          <a:prstGeom prst="wedgeEllipseCallout">
            <a:avLst>
              <a:gd name="adj1" fmla="val -53483"/>
              <a:gd name="adj2" fmla="val 57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수정 완료하고 내 정보 페이지로 이동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07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1624754363"/>
              </p:ext>
            </p:extLst>
          </p:nvPr>
        </p:nvGraphicFramePr>
        <p:xfrm>
          <a:off x="247649" y="344487"/>
          <a:ext cx="6362701" cy="9123131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101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고객지원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고객센터 문의 등록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CUSTOMER_CENTER_PAGE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사용자가 문의사항을 등록하는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2050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marR="0" lvl="0" indent="-22860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AutoNum type="arabicPeriod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제목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제목 작성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이메일 자동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 이메일 자동 표시한다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내용 입력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문의사항 상세 내용 작성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등록 기능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문의 접수 버튼 클릭 시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DB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저장된다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5 .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유효성 검사 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 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제목 및 문의 내용 미 입력 시 등록 제한한다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 </a:t>
                      </a: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BEDBFBF-9004-48B2-A792-E489AA02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184400"/>
            <a:ext cx="5956300" cy="4495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5F39AF38-107D-40E9-AC4B-7F3F9D4736CD}"/>
              </a:ext>
            </a:extLst>
          </p:cNvPr>
          <p:cNvSpPr/>
          <p:nvPr/>
        </p:nvSpPr>
        <p:spPr>
          <a:xfrm>
            <a:off x="4470400" y="4953000"/>
            <a:ext cx="1892300" cy="736600"/>
          </a:xfrm>
          <a:prstGeom prst="wedgeEllipseCallout">
            <a:avLst>
              <a:gd name="adj1" fmla="val -53483"/>
              <a:gd name="adj2" fmla="val 573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문의 접수하고 홈페이지로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1823197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2"/>
          <p:cNvGraphicFramePr/>
          <p:nvPr>
            <p:extLst>
              <p:ext uri="{D42A27DB-BD31-4B8C-83A1-F6EECF244321}">
                <p14:modId xmlns:p14="http://schemas.microsoft.com/office/powerpoint/2010/main" val="3897887324"/>
              </p:ext>
            </p:extLst>
          </p:nvPr>
        </p:nvGraphicFramePr>
        <p:xfrm>
          <a:off x="495300" y="192711"/>
          <a:ext cx="6059450" cy="9537835"/>
        </p:xfrm>
        <a:graphic>
          <a:graphicData uri="http://schemas.openxmlformats.org/drawingml/2006/table">
            <a:tbl>
              <a:tblPr>
                <a:noFill/>
                <a:tableStyleId>{69A28E38-3AA5-4339-A1BF-AE6ADF5D02B0}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Gulimche"/>
                        <a:buNone/>
                      </a:pPr>
                      <a:r>
                        <a:rPr lang="en-US" sz="2000" b="1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화면정의서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업무명</a:t>
                      </a:r>
                      <a:endParaRPr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건강분석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작성일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2026.05.22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업무대기능명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분석기록관리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작성자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곽민재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조회</a:t>
                      </a: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화면ID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ANALYSIS_HISTORY_PAGE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en-US" sz="1000" b="0" i="0" u="none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화면설명</a:t>
                      </a:r>
                      <a:endParaRPr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심근경색 분석 기록을 조회하는 화면이다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  <a:endParaRPr sz="1000" dirty="0">
                        <a:latin typeface="+mj-ea"/>
                        <a:ea typeface="+mj-ea"/>
                      </a:endParaRPr>
                    </a:p>
                  </a:txBody>
                  <a:tcPr marL="36000" marR="36000" marT="36025" marB="360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3314"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"/>
                        <a:sym typeface="Gulim"/>
                      </a:endParaRPr>
                    </a:p>
                  </a:txBody>
                  <a:tcPr marL="36000" marR="36000" marT="36025" marB="360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구성요소</a:t>
                      </a:r>
                      <a:endParaRPr lang="ko-KR" altLang="en-US" sz="1000" b="0" i="0" u="none" dirty="0">
                        <a:solidFill>
                          <a:schemeClr val="dk1"/>
                        </a:solidFill>
                        <a:latin typeface="+mj-ea"/>
                        <a:ea typeface="+mj-ea"/>
                        <a:cs typeface="Gulimche"/>
                        <a:sym typeface="Gulimche"/>
                      </a:endParaRPr>
                    </a:p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r>
                        <a:rPr lang="ko-KR" altLang="en-US" sz="1000" b="0" i="0" u="non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Gulimche"/>
                          <a:sym typeface="Gulimche"/>
                        </a:rPr>
                        <a:t>설명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E0E0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1.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목록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사용자의 분석 날짜 목록 조회 가능하다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2.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 결과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심근경색 발생 확률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(%)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출력한다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3.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기능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상세보기 버튼 클릭 시 분석 상세 화면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4.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최신 기록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최근 분석 기록이 상단에 표시된다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이동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예측하기 버튼 클릭 시 분석 페이지 이동한다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6.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사용자별 데이터 조회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로그인 사용자의 분석 데이터만 조회한다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7. </a:t>
                      </a: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 삭제</a:t>
                      </a:r>
                      <a:endParaRPr lang="en-US" altLang="ko-KR" sz="1000" dirty="0">
                        <a:latin typeface="+mj-ea"/>
                        <a:ea typeface="+mj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1000" dirty="0">
                          <a:latin typeface="+mj-ea"/>
                          <a:ea typeface="+mj-ea"/>
                        </a:rPr>
                        <a:t>분석 기록을 삭제한다</a:t>
                      </a:r>
                      <a:r>
                        <a:rPr lang="en-US" altLang="ko-KR" sz="1000" dirty="0"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Gulimche"/>
                        <a:buNone/>
                      </a:pPr>
                      <a:endParaRPr lang="ko-KR" altLang="en-US" sz="1000" dirty="0">
                        <a:latin typeface="+mj-ea"/>
                        <a:ea typeface="+mj-ea"/>
                      </a:endParaRPr>
                    </a:p>
                  </a:txBody>
                  <a:tcPr marL="91450" marR="91450" marT="45750" marB="457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C6B9D11-19AA-4750-9794-2B2F92C52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9" y="2361961"/>
            <a:ext cx="5651501" cy="38993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말풍선: 타원형 7">
            <a:extLst>
              <a:ext uri="{FF2B5EF4-FFF2-40B4-BE49-F238E27FC236}">
                <a16:creationId xmlns:a16="http://schemas.microsoft.com/office/drawing/2014/main" id="{CCCF0F66-ACDD-4B85-8C5C-BC363AD6D195}"/>
              </a:ext>
            </a:extLst>
          </p:cNvPr>
          <p:cNvSpPr/>
          <p:nvPr/>
        </p:nvSpPr>
        <p:spPr>
          <a:xfrm>
            <a:off x="4414025" y="2361961"/>
            <a:ext cx="1524000" cy="546100"/>
          </a:xfrm>
          <a:prstGeom prst="wedgeEllipseCallout">
            <a:avLst>
              <a:gd name="adj1" fmla="val 60683"/>
              <a:gd name="adj2" fmla="val 503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예측 하는 페이지로 이동</a:t>
            </a:r>
          </a:p>
        </p:txBody>
      </p:sp>
      <p:sp>
        <p:nvSpPr>
          <p:cNvPr id="9" name="말풍선: 타원형 8">
            <a:extLst>
              <a:ext uri="{FF2B5EF4-FFF2-40B4-BE49-F238E27FC236}">
                <a16:creationId xmlns:a16="http://schemas.microsoft.com/office/drawing/2014/main" id="{B26E1902-0A47-4414-81F1-AB84FDB26C65}"/>
              </a:ext>
            </a:extLst>
          </p:cNvPr>
          <p:cNvSpPr/>
          <p:nvPr/>
        </p:nvSpPr>
        <p:spPr>
          <a:xfrm>
            <a:off x="4126263" y="3187700"/>
            <a:ext cx="1651000" cy="641350"/>
          </a:xfrm>
          <a:prstGeom prst="wedgeEllipseCallout">
            <a:avLst>
              <a:gd name="adj1" fmla="val 50992"/>
              <a:gd name="adj2" fmla="val 402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당일에 한 분석 결과 보기</a:t>
            </a:r>
          </a:p>
        </p:txBody>
      </p:sp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2BF434C2-B16A-412A-A74D-A84784AFB5B5}"/>
              </a:ext>
            </a:extLst>
          </p:cNvPr>
          <p:cNvSpPr/>
          <p:nvPr/>
        </p:nvSpPr>
        <p:spPr>
          <a:xfrm>
            <a:off x="4508500" y="5715239"/>
            <a:ext cx="1524000" cy="546100"/>
          </a:xfrm>
          <a:prstGeom prst="wedgeEllipseCallout">
            <a:avLst>
              <a:gd name="adj1" fmla="val 54016"/>
              <a:gd name="adj2" fmla="val -589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분석 기록 삭제</a:t>
            </a:r>
          </a:p>
        </p:txBody>
      </p:sp>
    </p:spTree>
    <p:extLst>
      <p:ext uri="{BB962C8B-B14F-4D97-AF65-F5344CB8AC3E}">
        <p14:creationId xmlns:p14="http://schemas.microsoft.com/office/powerpoint/2010/main" val="126300153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1972</Words>
  <Application>Microsoft Office PowerPoint</Application>
  <PresentationFormat>A4 용지(210x297mm)</PresentationFormat>
  <Paragraphs>529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Gulimche</vt:lpstr>
      <vt:lpstr>Gulim</vt:lpstr>
      <vt:lpstr>맑은 고딕</vt:lpstr>
      <vt:lpstr>Arial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PKH</dc:creator>
  <cp:lastModifiedBy>Administrator</cp:lastModifiedBy>
  <cp:revision>41</cp:revision>
  <dcterms:created xsi:type="dcterms:W3CDTF">2006-05-26T09:19:06Z</dcterms:created>
  <dcterms:modified xsi:type="dcterms:W3CDTF">2026-06-10T04:45:48Z</dcterms:modified>
</cp:coreProperties>
</file>